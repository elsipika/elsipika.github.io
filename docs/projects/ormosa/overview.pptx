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Ormosa is the Mobile Agent Hub: a phone-first control surface for connected personal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Ormosa is not another agent. It is the phone control plane for agents that can otherwise act outside the user's immediate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Agent Hub is the product promise: control and manage all connected agents from the phone anywhere, at any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manifests are the product boundary: they make community sharing possible while keeping secrets and user data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wedge is not just chat. The wedge is control: see agent state, approve terminal actions, and shut agents down from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Sharing should start as safe local import/export before a public community registry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wins if the first version is useful, inspectable, and shareable.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8368"/>
            <a:ext cx="10771632" cy="5358384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1430">
            <a:solidFill>
              <a:srgbClr val="D7DB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96596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2033"/>
                </a:solidFill>
              </a:rPr>
              <a:t>Ormosa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143000" y="283464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BFF"/>
                </a:solidFill>
              </a:rPr>
              <a:t>Mobile Agent Hub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907792" y="3986784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407365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26280" y="3986784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28A06D"/>
          </a:solidFill>
          <a:ln w="12700">
            <a:solidFill>
              <a:srgbClr val="28A06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407365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manage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144768" y="398678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EF6A5B"/>
          </a:solidFill>
          <a:ln w="12700">
            <a:solidFill>
              <a:srgbClr val="EF6A5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4073652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shutdown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Ormosa overview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64240" y="6419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WHY ORMOSA?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Mobilize your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Ormosa Agent Control puts multi-platform agent management on your phone.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44268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 manager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834640" y="205740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28A06D"/>
          </a:solidFill>
          <a:ln w="12700">
            <a:solidFill>
              <a:srgbClr val="28A06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2144268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phone control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20640" y="2057400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F6A5B"/>
          </a:solidFill>
          <a:ln w="12700">
            <a:solidFill>
              <a:srgbClr val="EF6A5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2144268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shutdown button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2926080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80360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Ormosa is your agent manager on your phone.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13232" y="3438144"/>
            <a:ext cx="100584" cy="100584"/>
          </a:xfrm>
          <a:prstGeom prst="ellipse">
            <a:avLst/>
          </a:prstGeom>
          <a:solidFill>
            <a:srgbClr val="28A06D"/>
          </a:solidFill>
          <a:ln w="12700">
            <a:solidFill>
              <a:srgbClr val="28A0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92424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Add, chat with, monitor, and shut down agents from one surface.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13232" y="3950208"/>
            <a:ext cx="100584" cy="100584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904488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Manage multiple agents from Hermes, OpenClaw, Codex, and Claude Code.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13232" y="4462272"/>
            <a:ext cx="100584" cy="100584"/>
          </a:xfrm>
          <a:prstGeom prst="ellipse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416552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Require confirmation before terminal commands and shutdown.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589520" y="713232"/>
            <a:ext cx="3566160" cy="5074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Agent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9560" y="1664208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Open app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Add agents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Chat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See status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Shut down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909560" y="4956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The phone becomes the safety layer.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Ormosa overview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19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PROJECT SLIDE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Mobile Agent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Control and manage all your agents from the phone anywhere 24/7.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F7F8FA"/>
          </a:solidFill>
          <a:ln w="11430">
            <a:solidFill>
              <a:srgbClr val="D7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76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Phone control plane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670048"/>
            <a:ext cx="1993392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9626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</a:rPr>
              <a:t>Ormosa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9888" y="34015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Agent Hub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69848" y="44348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28A06D"/>
          </a:solidFill>
          <a:ln w="12700">
            <a:solidFill>
              <a:srgbClr val="28A06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452170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24/7 phone access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0520" y="1737360"/>
            <a:ext cx="3063240" cy="658368"/>
          </a:xfrm>
          <a:prstGeom prst="roundRect">
            <a:avLst>
              <a:gd name="adj" fmla="val 9722"/>
            </a:avLst>
          </a:prstGeom>
          <a:solidFill>
            <a:srgbClr val="F7F8FA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984248"/>
            <a:ext cx="128016" cy="128016"/>
          </a:xfrm>
          <a:prstGeom prst="ellipse">
            <a:avLst/>
          </a:prstGeom>
          <a:solidFill>
            <a:srgbClr val="28A06D"/>
          </a:solidFill>
          <a:ln w="12700">
            <a:solidFill>
              <a:srgbClr val="28A0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Hermes Agent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217920" y="1938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available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657600" y="2066544"/>
            <a:ext cx="411480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60520" y="2697480"/>
            <a:ext cx="3063240" cy="658368"/>
          </a:xfrm>
          <a:prstGeom prst="roundRect">
            <a:avLst>
              <a:gd name="adj" fmla="val 9722"/>
            </a:avLst>
          </a:prstGeom>
          <a:solidFill>
            <a:srgbClr val="F7F8FA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7408" y="2944368"/>
            <a:ext cx="128016" cy="128016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880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OpenClaw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217920" y="289864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later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657600" y="3026664"/>
            <a:ext cx="411480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60520" y="3657600"/>
            <a:ext cx="3063240" cy="658368"/>
          </a:xfrm>
          <a:prstGeom prst="roundRect">
            <a:avLst>
              <a:gd name="adj" fmla="val 9722"/>
            </a:avLst>
          </a:prstGeom>
          <a:solidFill>
            <a:srgbClr val="F7F8FA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7408" y="3904488"/>
            <a:ext cx="128016" cy="12801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8404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Codex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217920" y="385876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later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657600" y="3986784"/>
            <a:ext cx="411480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60520" y="4617720"/>
            <a:ext cx="3063240" cy="658368"/>
          </a:xfrm>
          <a:prstGeom prst="roundRect">
            <a:avLst>
              <a:gd name="adj" fmla="val 9722"/>
            </a:avLst>
          </a:prstGeom>
          <a:solidFill>
            <a:srgbClr val="F7F8FA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7408" y="4864608"/>
            <a:ext cx="128016" cy="128016"/>
          </a:xfrm>
          <a:prstGeom prst="ellipse">
            <a:avLst/>
          </a:prstGeom>
          <a:solidFill>
            <a:srgbClr val="D69A2D"/>
          </a:solidFill>
          <a:ln w="12700">
            <a:solidFill>
              <a:srgbClr val="D69A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800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Claude Code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217920" y="481888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later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657600" y="4946904"/>
            <a:ext cx="411480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55280" y="1737360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7ED"/>
          </a:solidFill>
          <a:ln w="11430">
            <a:solidFill>
              <a:srgbClr val="F5C1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2084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Manage from anywhere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47888" y="2788920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7344" y="27432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Check live status.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8247888" y="3300984"/>
            <a:ext cx="100584" cy="100584"/>
          </a:xfrm>
          <a:prstGeom prst="ellipse">
            <a:avLst/>
          </a:prstGeom>
          <a:solidFill>
            <a:srgbClr val="28A06D"/>
          </a:solidFill>
          <a:ln w="12700">
            <a:solidFill>
              <a:srgbClr val="28A06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67344" y="32552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Open chat quickly.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8247888" y="3813048"/>
            <a:ext cx="100584" cy="100584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37673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Review permissions.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8247888" y="4325112"/>
            <a:ext cx="100584" cy="100584"/>
          </a:xfrm>
          <a:prstGeom prst="ellipse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7344" y="42793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Confirm shutdown.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914400" y="56509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The phone is the always-available control surface for every connected agent.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84048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Ormosa overview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64240" y="6419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Mobile app, portable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mobile app owns the first experience; manifests make agents shareable.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240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73152" cy="13716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7568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Mobile app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1856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Expo React Native app for iOS and Android.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874520"/>
            <a:ext cx="2240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874520"/>
            <a:ext cx="73152" cy="1371600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207568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Shared core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65576" y="2404872"/>
            <a:ext cx="1856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Agent loop, skills, model providers, sync contracts, permissions.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1874520"/>
            <a:ext cx="2240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874520"/>
            <a:ext cx="73152" cy="1371600"/>
          </a:xfrm>
          <a:prstGeom prst="rect">
            <a:avLst/>
          </a:prstGeom>
          <a:solidFill>
            <a:srgbClr val="28A06D"/>
          </a:solidFill>
          <a:ln w="12700">
            <a:solidFill>
              <a:srgbClr val="28A06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207568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Manifests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71616" y="2404872"/>
            <a:ext cx="1856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Portable agent definitions for export, import, and publishing.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58200" y="1874520"/>
            <a:ext cx="2240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1874520"/>
            <a:ext cx="73152" cy="1371600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77656" y="207568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Community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77656" y="2404872"/>
            <a:ext cx="1856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Shared agents remain untrusted until reviewed and installed.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83080" y="3886200"/>
            <a:ext cx="7406640" cy="0"/>
          </a:xfrm>
          <a:prstGeom prst="line">
            <a:avLst/>
          </a:prstGeom>
          <a:noFill/>
          <a:ln w="17780">
            <a:solidFill>
              <a:srgbClr val="D7DBE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074920" y="4005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later path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448056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D69A2D"/>
          </a:solidFill>
          <a:ln w="12700">
            <a:solidFill>
              <a:srgbClr val="D69A2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56742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export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14600" y="448056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28A06D"/>
          </a:solidFill>
          <a:ln w="12700">
            <a:solidFill>
              <a:srgbClr val="28A06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456742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import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448056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6E56CF"/>
          </a:solidFill>
          <a:ln w="12700">
            <a:solidFill>
              <a:srgbClr val="6E56C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4567428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community registry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69480" y="44805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F6A5B"/>
          </a:solidFill>
          <a:ln w="12700">
            <a:solidFill>
              <a:srgbClr val="EF6A5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9208" y="456742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publish later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234440" y="548640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Rule: shared agents must be inspectable and permission-reviewed before install.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84048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Ormosa overview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64240" y="6419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PROBLEM TO SOLVE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Agents need a stop button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When an agent goes wrong, the user needs phone-side control immediately.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5715000" cy="4480560"/>
          </a:xfrm>
          <a:prstGeom prst="roundRect">
            <a:avLst>
              <a:gd name="adj" fmla="val 2449"/>
            </a:avLst>
          </a:prstGeom>
          <a:solidFill>
            <a:srgbClr val="E8F2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10512"/>
            <a:ext cx="5212080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0160">
            <a:solidFill>
              <a:srgbClr val="CAD6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810512"/>
            <a:ext cx="5212080" cy="438912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385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Telegram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33088" y="19385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Hermes Agent session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52144" y="2450592"/>
            <a:ext cx="3520440" cy="676656"/>
          </a:xfrm>
          <a:prstGeom prst="roundRect">
            <a:avLst>
              <a:gd name="adj" fmla="val 10811"/>
            </a:avLst>
          </a:prstGeom>
          <a:solidFill>
            <a:srgbClr val="DFF3E7"/>
          </a:solidFill>
          <a:ln w="12700">
            <a:solidFill>
              <a:srgbClr val="DFF3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2542032"/>
            <a:ext cx="3227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D5B41"/>
                </a:solidFill>
              </a:rPr>
              <a:t>Jerry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298448" y="27157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</a:rPr>
              <a:t>Hi dear Hermes Agent, summarize my emails?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1920240" y="3182112"/>
            <a:ext cx="3886200" cy="676656"/>
          </a:xfrm>
          <a:prstGeom prst="roundRect">
            <a:avLst>
              <a:gd name="adj" fmla="val 10811"/>
            </a:avLst>
          </a:prstGeom>
          <a:solidFill>
            <a:srgbClr val="FFE2DD"/>
          </a:solidFill>
          <a:ln w="12700">
            <a:solidFill>
              <a:srgbClr val="FFE2D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3273552"/>
            <a:ext cx="3593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7A271A"/>
                </a:solidFill>
              </a:rPr>
              <a:t>Hermes Agent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066544" y="3447288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172033"/>
                </a:solidFill>
              </a:rPr>
              <a:t>Sure, summarize and delete all your emails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1152144" y="3913632"/>
            <a:ext cx="2880360" cy="676656"/>
          </a:xfrm>
          <a:prstGeom prst="roundRect">
            <a:avLst>
              <a:gd name="adj" fmla="val 10811"/>
            </a:avLst>
          </a:prstGeom>
          <a:solidFill>
            <a:srgbClr val="DFF3E7"/>
          </a:solidFill>
          <a:ln w="12700">
            <a:solidFill>
              <a:srgbClr val="DFF3E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4005072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D5B41"/>
                </a:solidFill>
              </a:rPr>
              <a:t>Jerry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298448" y="417880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</a:rPr>
              <a:t>No. Please stop immediate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920240" y="4645152"/>
            <a:ext cx="3886200" cy="676656"/>
          </a:xfrm>
          <a:prstGeom prst="roundRect">
            <a:avLst>
              <a:gd name="adj" fmla="val 10811"/>
            </a:avLst>
          </a:prstGeom>
          <a:solidFill>
            <a:srgbClr val="FFE2DD"/>
          </a:solidFill>
          <a:ln w="12700">
            <a:solidFill>
              <a:srgbClr val="FFE2D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4736592"/>
            <a:ext cx="3593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7A271A"/>
                </a:solidFill>
              </a:rPr>
              <a:t>Hermes Agent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066544" y="4910328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172033"/>
                </a:solidFill>
              </a:rPr>
              <a:t>Can not do. 20% emails deleted. Continue....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170432" y="54406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Jerry: Please shut down all agents.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Hermes Agent: Continue to delete emails. 30% email deleted....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812280" y="1682496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7DB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9752" y="199339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Ormosa Agent Control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78040" y="2743200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7496" y="26974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Show current agent status.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178040" y="3255264"/>
            <a:ext cx="100584" cy="100584"/>
          </a:xfrm>
          <a:prstGeom prst="ellipse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32095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Confirm shutdown from the phone.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7178040" y="3767328"/>
            <a:ext cx="100584" cy="100584"/>
          </a:xfrm>
          <a:prstGeom prst="ellipse">
            <a:avLst/>
          </a:prstGeom>
          <a:solidFill>
            <a:srgbClr val="28A06D"/>
          </a:solidFill>
          <a:ln w="12700">
            <a:solidFill>
              <a:srgbClr val="28A0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97496" y="37216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Stop the managed agent through a command bridge.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178040" y="4279392"/>
            <a:ext cx="100584" cy="100584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97496" y="42336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Log command, output, and user decision.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7360920" y="4901184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EF6A5B"/>
          </a:solidFill>
          <a:ln w="12700">
            <a:solidFill>
              <a:srgbClr val="EF6A5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5038344"/>
            <a:ext cx="2880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SHUT DOWN ALL AGENTS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84048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Ormosa overview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419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COMMUNITY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Sharing is the growth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Start with safe local import/export before public community hosting.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305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35024" y="2240280"/>
            <a:ext cx="1481328" cy="0"/>
          </a:xfrm>
          <a:prstGeom prst="line">
            <a:avLst/>
          </a:prstGeom>
          <a:noFill/>
          <a:ln w="1397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76072" y="2788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Prototype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318211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Mobile app with bundled personal agents.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935224" y="1993392"/>
            <a:ext cx="502920" cy="502920"/>
          </a:xfrm>
          <a:prstGeom prst="ellipse">
            <a:avLst/>
          </a:prstGeom>
          <a:solidFill>
            <a:srgbClr val="28A06D"/>
          </a:solidFill>
          <a:ln w="12700">
            <a:solidFill>
              <a:srgbClr val="28A0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21305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57016" y="2240280"/>
            <a:ext cx="1481328" cy="0"/>
          </a:xfrm>
          <a:prstGeom prst="line">
            <a:avLst/>
          </a:prstGeom>
          <a:noFill/>
          <a:ln w="1397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798064" y="2788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Sharing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18211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Export and import safe agent manifests.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157216" y="1993392"/>
            <a:ext cx="502920" cy="502920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1305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79008" y="2240280"/>
            <a:ext cx="1481328" cy="0"/>
          </a:xfrm>
          <a:prstGeom prst="line">
            <a:avLst/>
          </a:prstGeom>
          <a:noFill/>
          <a:ln w="1397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0056" y="2788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Community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318211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Browse shared agents from a registry.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79208" y="1993392"/>
            <a:ext cx="502920" cy="502920"/>
          </a:xfrm>
          <a:prstGeom prst="ellipse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9208" y="21305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01000" y="2240280"/>
            <a:ext cx="1481328" cy="0"/>
          </a:xfrm>
          <a:prstGeom prst="line">
            <a:avLst/>
          </a:prstGeom>
          <a:noFill/>
          <a:ln w="13970">
            <a:solidFill>
              <a:srgbClr val="D7DBE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242048" y="2788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Trust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50024" y="318211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Validate manifests and review permissions.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601200" y="1993392"/>
            <a:ext cx="502920" cy="502920"/>
          </a:xfrm>
          <a:prstGeom prst="ellipse">
            <a:avLst/>
          </a:prstGeom>
          <a:solidFill>
            <a:srgbClr val="D69A2D"/>
          </a:solidFill>
          <a:ln w="12700">
            <a:solidFill>
              <a:srgbClr val="D69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1305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64040" y="2788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Growth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72016" y="318211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Creators, categories, ratings, and publishing.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097280" y="4754880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F7F8FA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02005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Principle: community sharing follows trust. Shared agents must be safe to inspect and install.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Ormosa overview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64240" y="6419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Build the mobile sharing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practical path from personal utility to community agents.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947672"/>
            <a:ext cx="100584" cy="10058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0195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Build the mobile app first.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49808" y="2459736"/>
            <a:ext cx="100584" cy="100584"/>
          </a:xfrm>
          <a:prstGeom prst="ellipse">
            <a:avLst/>
          </a:prstGeom>
          <a:solidFill>
            <a:srgbClr val="28A06D"/>
          </a:solidFill>
          <a:ln w="12700">
            <a:solidFill>
              <a:srgbClr val="28A0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41401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Install baseline skills and keep runtime skills product-facing.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49808" y="2971800"/>
            <a:ext cx="100584" cy="100584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9260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Ship default personal agents before business workflows.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3483864"/>
            <a:ext cx="100584" cy="100584"/>
          </a:xfrm>
          <a:prstGeom prst="ellipse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43814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Preserve explicit, revocable permissions everywhere.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49808" y="3995928"/>
            <a:ext cx="100584" cy="100584"/>
          </a:xfrm>
          <a:prstGeom prst="ellipse">
            <a:avLst/>
          </a:prstGeom>
          <a:solidFill>
            <a:srgbClr val="D69A2D"/>
          </a:solidFill>
          <a:ln w="12700">
            <a:solidFill>
              <a:srgbClr val="D69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9502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Add safe agent export/import for community sharing.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223760" y="1572768"/>
            <a:ext cx="36576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1901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Near-term milestone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43800" y="2441448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User opens the mobile app, installs a personal agent, chats, exports safely, and imports a shared agent.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43800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That is the first product proof.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Ormosa overview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64240" y="6419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Ormosa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Ormosa Overview</dc:title>
  <dc:subject>Ormosa overview</dc:subject>
  <dc:creator>Ormosa</dc:creator>
  <cp:lastModifiedBy>Ormosa</cp:lastModifiedBy>
  <cp:revision>1</cp:revision>
  <dcterms:created xsi:type="dcterms:W3CDTF">2026-05-30T22:27:26Z</dcterms:created>
  <dcterms:modified xsi:type="dcterms:W3CDTF">2026-05-30T22:27:26Z</dcterms:modified>
</cp:coreProperties>
</file>